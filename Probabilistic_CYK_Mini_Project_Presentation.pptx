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Selected CKY Cell Probabilities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 probability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the</c:v>
                </c:pt>
                <c:pt idx="1">
                  <c:v>boy</c:v>
                </c:pt>
                <c:pt idx="2">
                  <c:v>sees</c:v>
                </c:pt>
                <c:pt idx="3">
                  <c:v>the</c:v>
                </c:pt>
                <c:pt idx="4">
                  <c:v>dog</c:v>
                </c:pt>
                <c:pt idx="5">
                  <c:v>the boy</c:v>
                </c:pt>
                <c:pt idx="6">
                  <c:v>the dog</c:v>
                </c:pt>
                <c:pt idx="7">
                  <c:v>VP</c:v>
                </c:pt>
                <c:pt idx="8">
                  <c:v>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</c:v>
                </c:pt>
                <c:pt idx="1">
                  <c:v>0.25</c:v>
                </c:pt>
                <c:pt idx="2">
                  <c:v>0.5</c:v>
                </c:pt>
                <c:pt idx="3">
                  <c:v>0.6</c:v>
                </c:pt>
                <c:pt idx="4">
                  <c:v>0.25</c:v>
                </c:pt>
                <c:pt idx="5">
                  <c:v>0.0825</c:v>
                </c:pt>
                <c:pt idx="6">
                  <c:v>0.0825</c:v>
                </c:pt>
                <c:pt idx="7">
                  <c:v>0.02475</c:v>
                </c:pt>
                <c:pt idx="8">
                  <c:v>0.002041875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21212"/>
                </a:solidFill>
                <a:latin typeface="Arial"/>
              </a:rPr>
              <a:t>Probabilistic CYK Algorithm for
Finding Most Likely Parse Trees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097280" y="4754880"/>
            <a:ext cx="1005840" cy="640080"/>
          </a:xfrm>
          <a:prstGeom prst="line">
            <a:avLst/>
          </a:prstGeom>
          <a:ln w="12700">
            <a:solidFill>
              <a:srgbClr val="E1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03120" y="4754880"/>
            <a:ext cx="1005840" cy="640080"/>
          </a:xfrm>
          <a:prstGeom prst="line">
            <a:avLst/>
          </a:prstGeom>
          <a:ln w="12700">
            <a:solidFill>
              <a:srgbClr val="E1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144000" y="4754880"/>
            <a:ext cx="1005840" cy="640080"/>
          </a:xfrm>
          <a:prstGeom prst="line">
            <a:avLst/>
          </a:prstGeom>
          <a:ln w="12700">
            <a:solidFill>
              <a:srgbClr val="E1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149840" y="4754880"/>
            <a:ext cx="914400" cy="640080"/>
          </a:xfrm>
          <a:prstGeom prst="line">
            <a:avLst/>
          </a:prstGeom>
          <a:ln w="12700">
            <a:solidFill>
              <a:srgbClr val="E1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17320" y="2926080"/>
            <a:ext cx="9326880" cy="1874519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" y="3017520"/>
            <a:ext cx="9034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PROJECT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3456432"/>
            <a:ext cx="8997696" cy="1252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author: Sriram J
register_number: 2117240030146
department: Artificial Intelligence and Machine Learning
semester: V
course: AL23531 - Natural Language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Dynamic Programming  •  PCFG  •  Viterbi Backtracking  •  Parse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The Core Problem: Choosing the Most Likely Parse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074920" cy="19659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508760"/>
            <a:ext cx="4782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21212"/>
                </a:solidFill>
                <a:latin typeface="Arial"/>
              </a:rPr>
              <a:t>AMBIGUOUS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47672"/>
            <a:ext cx="4745736" cy="13441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121212"/>
                </a:solidFill>
                <a:latin typeface="Arial"/>
              </a:rPr>
              <a:t>I saw the man with a telescope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21212"/>
                </a:solidFill>
                <a:latin typeface="Arial"/>
              </a:rPr>
              <a:t>Two possible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874519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4264" y="1965960"/>
            <a:ext cx="1856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PARSE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404872"/>
            <a:ext cx="1819656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1212"/>
                </a:solidFill>
                <a:latin typeface="Arial"/>
              </a:rPr>
              <a:t>I saw [the man]
[with a telescope]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874519"/>
            <a:ext cx="21488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965960"/>
            <a:ext cx="1856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PARSE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404872"/>
            <a:ext cx="1819656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1212"/>
                </a:solidFill>
                <a:latin typeface="Arial"/>
              </a:rPr>
              <a:t>I saw [the man
with a telescope]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01568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B7080"/>
                </a:solidFill>
                <a:latin typeface="Arial"/>
              </a:rPr>
              <a:t>PCFG probabilities rank competing derivations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30632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977639"/>
            <a:ext cx="2770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416552"/>
            <a:ext cx="27340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rial"/>
              </a:rPr>
              <a:t>Sentence + grammar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9080" y="4462272"/>
            <a:ext cx="640080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0" y="3886200"/>
            <a:ext cx="30632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6904" y="3977639"/>
            <a:ext cx="2770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CKY + VITERBI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4416552"/>
            <a:ext cx="27340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rial"/>
              </a:rPr>
              <a:t>Evaluate spans,
retain best candidate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55279" y="4462272"/>
            <a:ext cx="640081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0" y="3886200"/>
            <a:ext cx="26060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3104" y="3977639"/>
            <a:ext cx="2313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4416552"/>
            <a:ext cx="22768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rial"/>
              </a:rPr>
              <a:t>Most likely
parse tree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Project Aim: Use probabilistic grammar rules and dynamic programming to select the highest-probability parse.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System Architecture: The Probabilistic Parsing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417320" cy="15087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2057400"/>
            <a:ext cx="1124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Raw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496312"/>
            <a:ext cx="1088136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Input sentence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724912"/>
            <a:ext cx="320040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40280" y="1965960"/>
            <a:ext cx="1417320" cy="15087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6584" y="2057400"/>
            <a:ext cx="1124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Tokenization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496312"/>
            <a:ext cx="1088136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Split into tokens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724912"/>
            <a:ext cx="320039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77639" y="1965960"/>
            <a:ext cx="1417320" cy="15087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2057400"/>
            <a:ext cx="1124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Lexical
Initialization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1" y="2496312"/>
            <a:ext cx="1088136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Fill diagonal cells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59" y="2724912"/>
            <a:ext cx="320041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1965960"/>
            <a:ext cx="1417320" cy="15087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304" y="2057400"/>
            <a:ext cx="1124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CKY Dynamic
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496312"/>
            <a:ext cx="1088136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Spans + split points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2724912"/>
            <a:ext cx="320040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1965960"/>
            <a:ext cx="1417320" cy="15087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4" y="2057400"/>
            <a:ext cx="1124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Viterbi
Backtracking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496312"/>
            <a:ext cx="1088136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Follow pointers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2724912"/>
            <a:ext cx="320040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1965960"/>
            <a:ext cx="14173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057400"/>
            <a:ext cx="11247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Most Likely
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496312"/>
            <a:ext cx="1088136" cy="8869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Final S parse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77639"/>
            <a:ext cx="352044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81544" y="4069079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KEY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4507992"/>
            <a:ext cx="3191256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rial"/>
              </a:rPr>
              <a:t>Every chart cell keeps the best probability and a back-pointer for reconstruction.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6908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Consolas"/>
              </a:rPr>
              <a:t>S → NP VP
NP → Det N
VP → V NP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Architecture: Sentence → Tokens → Lexical probabilities → CKY chart → Backtracking → Best parse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The Probabilistic Engine: PCFG Rules &amp; CKY Recurrence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Representative PCFG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5120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755648"/>
            <a:ext cx="48280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S → NP 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94560"/>
            <a:ext cx="4791455" cy="-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1.00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76856"/>
            <a:ext cx="5120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68296"/>
            <a:ext cx="48280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NP → Det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07208"/>
            <a:ext cx="4791455" cy="-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0.55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89504"/>
            <a:ext cx="5120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980944"/>
            <a:ext cx="48280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VP → V 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419856"/>
            <a:ext cx="4791455" cy="-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0.60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02152"/>
            <a:ext cx="5120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593592"/>
            <a:ext cx="48280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Det → 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32504"/>
            <a:ext cx="4791455" cy="-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0.60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14800"/>
            <a:ext cx="5120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4206240"/>
            <a:ext cx="48280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N → boy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645152"/>
            <a:ext cx="4791455" cy="-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0.25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727448"/>
            <a:ext cx="51206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818888"/>
            <a:ext cx="48280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V → sees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257800"/>
            <a:ext cx="4791455" cy="-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1212"/>
                </a:solidFill>
                <a:latin typeface="Arial"/>
              </a:rPr>
              <a:t>0.50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170432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rial"/>
              </a:rPr>
              <a:t>Viterbi CKY recurrence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691640"/>
            <a:ext cx="5074920" cy="132588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1783080"/>
            <a:ext cx="4782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MAX-PROBABILITY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2221992"/>
            <a:ext cx="4745736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21212"/>
                </a:solidFill>
                <a:latin typeface="Arial"/>
              </a:rPr>
              <a:t>P(A,i,j) = maxₖ [ P(B,i,k) × P(C,k,j) × P(A→BC)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33756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B7080"/>
                </a:solidFill>
                <a:latin typeface="Arial"/>
              </a:rPr>
              <a:t>Why max?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703320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21212"/>
                </a:solidFill>
                <a:latin typeface="Arial"/>
              </a:defRPr>
            </a:pPr>
            <a:r>
              <a:t>• Keeps only the best derivation for each constituent.</a:t>
            </a:r>
          </a:p>
          <a:p>
            <a:pPr>
              <a:spcAft>
                <a:spcPts val="800"/>
              </a:spcAft>
              <a:defRPr sz="1400">
                <a:solidFill>
                  <a:srgbClr val="121212"/>
                </a:solidFill>
                <a:latin typeface="Arial"/>
              </a:defRPr>
            </a:pPr>
            <a:r>
              <a:t>• Back-pointer stores split k and child non-terminals.</a:t>
            </a:r>
          </a:p>
          <a:p>
            <a:pPr>
              <a:spcAft>
                <a:spcPts val="800"/>
              </a:spcAft>
              <a:defRPr sz="1400">
                <a:solidFill>
                  <a:srgbClr val="121212"/>
                </a:solidFill>
                <a:latin typeface="Arial"/>
              </a:defRPr>
            </a:pPr>
            <a:r>
              <a:t>• Bottom-up evaluation avoids repeated subproblems.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PCFG gives rule weights; CKY explores structure; Viterbi chooses the highest-probability derivation.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Worked Example: “the boy sees the dog”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Input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914400" cy="68580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691640"/>
            <a:ext cx="621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1212"/>
                </a:solidFill>
                <a:latin typeface="Arial"/>
              </a:rPr>
              <a:t>the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19" y="1600200"/>
            <a:ext cx="914400" cy="68580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2223" y="1691640"/>
            <a:ext cx="621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1212"/>
                </a:solidFill>
                <a:latin typeface="Arial"/>
              </a:rPr>
              <a:t>boy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00200"/>
            <a:ext cx="914400" cy="68580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1691640"/>
            <a:ext cx="621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1212"/>
                </a:solidFill>
                <a:latin typeface="Arial"/>
              </a:rPr>
              <a:t>sees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00200"/>
            <a:ext cx="914400" cy="68580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1691640"/>
            <a:ext cx="621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1212"/>
                </a:solidFill>
                <a:latin typeface="Arial"/>
              </a:rPr>
              <a:t>the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600200"/>
            <a:ext cx="914400" cy="68580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6904" y="1691640"/>
            <a:ext cx="621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1212"/>
                </a:solidFill>
                <a:latin typeface="Arial"/>
              </a:rPr>
              <a:t>dog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rial"/>
              </a:rPr>
              <a:t>Key CKY calculations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26080"/>
            <a:ext cx="3657600" cy="484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3017520"/>
            <a:ext cx="33649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NP(the boy)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456432"/>
            <a:ext cx="3328416" cy="-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1212"/>
                </a:solidFill>
                <a:latin typeface="Arial"/>
              </a:rPr>
              <a:t>0.60 × 0.25 × 0.55 = 0.082500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47872"/>
            <a:ext cx="3657600" cy="484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639312"/>
            <a:ext cx="33649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NP(the dog)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078224"/>
            <a:ext cx="3328416" cy="-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1212"/>
                </a:solidFill>
                <a:latin typeface="Arial"/>
              </a:rPr>
              <a:t>0.60 × 0.25 × 0.55 = 0.082500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69664"/>
            <a:ext cx="3657600" cy="484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4261104"/>
            <a:ext cx="33649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VP(sees the dog)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700016"/>
            <a:ext cx="3328416" cy="-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1212"/>
                </a:solidFill>
                <a:latin typeface="Arial"/>
              </a:rPr>
              <a:t>0.50 × 0.0825 × 0.60 = 0.024750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91456"/>
            <a:ext cx="3657600" cy="484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4882896"/>
            <a:ext cx="33649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S(entire sentence)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321808"/>
            <a:ext cx="3328416" cy="-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1212"/>
                </a:solidFill>
                <a:latin typeface="Arial"/>
              </a:rPr>
              <a:t>0.0825 × 0.02475 × 1.00 = 0.002041875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2651760"/>
            <a:ext cx="2880360" cy="214884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6904" y="2743200"/>
            <a:ext cx="2587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BEST DERIVATION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3182112"/>
            <a:ext cx="2551176" cy="1527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1212"/>
                </a:solidFill>
                <a:latin typeface="Arial"/>
              </a:rPr>
              <a:t>(S
  (NP (Det the) (N boy))
  (VP (V sees)
      (NP (Det the) (N dog))))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651760"/>
            <a:ext cx="31546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2743200"/>
            <a:ext cx="2862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1212"/>
                </a:solidFill>
                <a:latin typeface="Arial"/>
              </a:rPr>
              <a:t>FINAL 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3182112"/>
            <a:ext cx="2825496" cy="1527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21212"/>
                </a:solidFill>
                <a:latin typeface="Arial"/>
              </a:rPr>
              <a:t>0.002041875
= 0.2041875%
Complete S parse: 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The parser compares candidate derivations and retains the maximum probability at every span.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Implementation: Backend + 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212080" cy="434340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17320"/>
            <a:ext cx="4919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21212"/>
                </a:solidFill>
                <a:latin typeface="Arial"/>
              </a:rPr>
              <a:t>BACKEND — PYTHON /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1"/>
            <a:ext cx="4882896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POST /api/parse
1. Receive sentence
2. Tokenize input
3. Initialize lexical cells
4. Run CKY dynamic programming
5. Store back-pointers
6. Reconstruct tree
7. Return JSON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2120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417320"/>
            <a:ext cx="4919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21212"/>
                </a:solidFill>
                <a:latin typeface="Arial"/>
              </a:rPr>
              <a:t>FRONTEND — HTML / CSS /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856231"/>
            <a:ext cx="4882896" cy="3721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21212"/>
                </a:solidFill>
                <a:latin typeface="Arial"/>
              </a:rPr>
              <a:t>Sentence input box
Parse button + examples
KPI cards:
• Probability
• Token count
• Chart cells
• Operations
Outputs:
• Parse tree
• Bracketed tree
• CKY chart
• Grammar rules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3429000"/>
            <a:ext cx="457200" cy="0"/>
          </a:xfrm>
          <a:prstGeom prst="line">
            <a:avLst/>
          </a:prstGeom>
          <a:ln w="317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06440" y="301752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Consolas"/>
              </a:rPr>
              <a:t>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Full-stack flow: Browser → Flask API → Probabilistic CYK parser → JSON → Visual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Results Dashboard: CKY Probabilities &amp; Parse Output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66294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43800" y="1325880"/>
            <a:ext cx="4160520" cy="100584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90104" y="1417320"/>
            <a:ext cx="3867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21212"/>
                </a:solidFill>
                <a:latin typeface="Arial"/>
              </a:rPr>
              <a:t>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392" y="1856231"/>
            <a:ext cx="383133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121212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514600"/>
            <a:ext cx="416052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0104" y="2606040"/>
            <a:ext cx="3867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21212"/>
                </a:solidFill>
                <a:latin typeface="Arial"/>
              </a:rPr>
              <a:t>CHART SPANS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3044952"/>
            <a:ext cx="383133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21212"/>
                </a:solidFill>
                <a:latin typeface="Arial"/>
              </a:rPr>
              <a:t>15 possible spans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703320"/>
            <a:ext cx="4160520" cy="100584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3794759"/>
            <a:ext cx="3867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21212"/>
                </a:solidFill>
                <a:latin typeface="Arial"/>
              </a:rPr>
              <a:t>BEST S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4233672"/>
            <a:ext cx="383133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21212"/>
                </a:solidFill>
                <a:latin typeface="Arial"/>
              </a:rPr>
              <a:t>0.002041875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892040"/>
            <a:ext cx="4160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4983479"/>
            <a:ext cx="386791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PARSE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5422392"/>
            <a:ext cx="3831335" cy="155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21212"/>
                </a:solidFill>
                <a:latin typeface="Arial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Output combines quantitative probability with an interpretable syntactic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Testing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20440" cy="50292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417320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25880"/>
            <a:ext cx="3520440" cy="50292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417320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520440" cy="50292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5864" y="1417320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EXPECTED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011680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TC01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920240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2011680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the boy sees the dog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920240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4" y="2011680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Valid S parse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87752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679192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TC02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587752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2679192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a girl likes a 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587752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4" y="2679192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Valid S parse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55264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346704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TC03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255264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3346704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the big dog sees a small cat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55264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5864" y="3346704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Valid S parse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922776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4014215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TC04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922776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4014215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the boy unknownword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922776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4014215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Unknown-word error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590288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4681727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Arial"/>
              </a:rPr>
              <a:t>TC05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4590288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2544" y="4681727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(empty input)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4590288"/>
            <a:ext cx="35204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55864" y="4681727"/>
            <a:ext cx="32278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"/>
              </a:rPr>
              <a:t>Input validation 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949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1212"/>
                </a:solidFill>
                <a:latin typeface="Arial"/>
              </a:rPr>
              <a:t>Validation focus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5239512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21212"/>
                </a:solidFill>
                <a:latin typeface="Arial"/>
              </a:defRPr>
            </a:pPr>
            <a:r>
              <a:t>• Correct span combination</a:t>
            </a:r>
          </a:p>
          <a:p>
            <a:pPr>
              <a:spcAft>
                <a:spcPts val="800"/>
              </a:spcAft>
              <a:defRPr sz="1300">
                <a:solidFill>
                  <a:srgbClr val="121212"/>
                </a:solidFill>
                <a:latin typeface="Arial"/>
              </a:defRPr>
            </a:pPr>
            <a:r>
              <a:t>• Correct probability multiplication</a:t>
            </a:r>
          </a:p>
          <a:p>
            <a:pPr>
              <a:spcAft>
                <a:spcPts val="800"/>
              </a:spcAft>
              <a:defRPr sz="1300">
                <a:solidFill>
                  <a:srgbClr val="121212"/>
                </a:solidFill>
                <a:latin typeface="Arial"/>
              </a:defRPr>
            </a:pPr>
            <a:r>
              <a:t>• Correct backtracking</a:t>
            </a:r>
          </a:p>
          <a:p>
            <a:pPr>
              <a:spcAft>
                <a:spcPts val="800"/>
              </a:spcAft>
              <a:defRPr sz="1300">
                <a:solidFill>
                  <a:srgbClr val="121212"/>
                </a:solidFill>
                <a:latin typeface="Arial"/>
              </a:defRPr>
            </a:pPr>
            <a:r>
              <a:t>• Clear error handling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Testing checks both algorithmic correctness and user-facing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1212"/>
                </a:solidFill>
                <a:latin typeface="Arial"/>
              </a:rPr>
              <a:t>Strengths vs. Limitations: The Complexity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21212"/>
                </a:solidFill>
                <a:latin typeface="Arial"/>
              </a:rPr>
              <a:t>The Ultimate Strength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212080" cy="333756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49194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INTERPRETABLE PROBABILISTIC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4882896" cy="2715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• Every chosen constituent has an explicit grammar rule.
• Back-pointers show exactly how the tree was constructed.
• Dynamic programming avoids recomputing the same spans.
• Probability gives a principled ranking among valid parses.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14300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21212"/>
                </a:solidFill>
                <a:latin typeface="Arial"/>
              </a:rPr>
              <a:t>The Complexity 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3035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5010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CUBIC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21992"/>
            <a:ext cx="49743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1212"/>
                </a:solidFill>
                <a:latin typeface="Arial"/>
              </a:rPr>
              <a:t>O(n³ × |G|) for the grammar-dependent CKY computation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88920"/>
            <a:ext cx="53035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880360"/>
            <a:ext cx="5010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GRAMMAR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319272"/>
            <a:ext cx="49743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1212"/>
                </a:solidFill>
                <a:latin typeface="Arial"/>
              </a:rPr>
              <a:t>A small hand-written PCFG cannot represent all English constructions.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86200"/>
            <a:ext cx="53035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977639"/>
            <a:ext cx="50109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Arial"/>
              </a:rPr>
              <a:t>PROBABILITY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416552"/>
            <a:ext cx="49743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1212"/>
                </a:solidFill>
                <a:latin typeface="Arial"/>
              </a:rPr>
              <a:t>Manually assigned probabilities are useful for demonstration, but not corpus-learned.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Trade-off: transparent and teachable parsing versus grammar scale, runtime and coverage.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78640" cy="6629400"/>
          </a:xfrm>
          <a:prstGeom prst="rect">
            <a:avLst/>
          </a:prstGeom>
          <a:noFill/>
          <a:ln w="1651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1212"/>
                </a:solidFill>
                <a:latin typeface="Arial"/>
              </a:rPr>
              <a:t>Conclusion &amp; Future Horizon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777240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280160"/>
            <a:ext cx="10908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CORE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19072"/>
            <a:ext cx="10872216" cy="155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Probabilistic CYK combines PCFG probabilities, dynamic programming and Viterbi backtracking to find the most likely parse tree.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2461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423160"/>
            <a:ext cx="2953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1. LEARN THE GRAMMAR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862072"/>
            <a:ext cx="2916936" cy="1709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Estimate PCFG probabilities from an annotated treebank instead of manual weights.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3502152"/>
            <a:ext cx="429768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34840" y="2331720"/>
            <a:ext cx="32461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423160"/>
            <a:ext cx="2953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2. EXPAND THE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862072"/>
            <a:ext cx="2916936" cy="1709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Add CNF conversion, unknown-word handling and multiple candidate parses.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08392" y="3502152"/>
            <a:ext cx="429768" cy="0"/>
          </a:xfrm>
          <a:prstGeom prst="line">
            <a:avLst/>
          </a:prstGeom>
          <a:ln w="25400">
            <a:solidFill>
              <a:srgbClr val="5B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2331720"/>
            <a:ext cx="32461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423160"/>
            <a:ext cx="2953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Arial"/>
              </a:rPr>
              <a:t>3. EVALUATE &amp; INTEGRATE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62072"/>
            <a:ext cx="2916936" cy="17099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1212"/>
                </a:solidFill>
                <a:latin typeface="Arial"/>
              </a:rPr>
              <a:t>Use gold parse trees, precision/recall/F1 and compare against neural parsers.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57800"/>
            <a:ext cx="9966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B7080"/>
                </a:solidFill>
                <a:latin typeface="Arial"/>
              </a:rPr>
              <a:t>Tools: Python • Flask • HTML/CSS/JavaScript • PCFG • CKY • Viterbi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6236208"/>
            <a:ext cx="11594592" cy="384048"/>
          </a:xfrm>
          <a:prstGeom prst="rect">
            <a:avLst/>
          </a:prstGeom>
          <a:solidFill>
            <a:srgbClr val="5B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254496"/>
            <a:ext cx="11292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onsola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